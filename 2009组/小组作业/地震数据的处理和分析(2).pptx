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.svg" ContentType="image/svg+xml"/>
  <Override PartName="/ppt/media/image44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84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7" r:id="rId15"/>
    <p:sldId id="281" r:id="rId16"/>
    <p:sldId id="283" r:id="rId17"/>
    <p:sldId id="265" r:id="rId18"/>
    <p:sldId id="26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2" userDrawn="1">
          <p15:clr>
            <a:srgbClr val="747775"/>
          </p15:clr>
        </p15:guide>
        <p15:guide id="2" pos="2897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2"/>
        <p:guide pos="2897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尊敬的老师，同学们，大家好。我们是第08小组，今天我们将向大家汇报我们的Python实训项目——全球大地震数据分析。本次答辩将围绕项目背景、成员分工、技术亮点和经验教训四个方面展开。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本次汇报将分为四个部分。首先，我们将介绍项目的背景和目标。其次，说明小组成员的具体分工。接着，重点展示我们在项目中运用的核心技术和实现的亮点功能。最后，分享我们在这次实训中的经验与教训。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背景是基于一份包含了1965到2016年间全球大地震数据的CSV文件。这份数据记录了超过两万四千条地震信息。我们的目标是通过Python对这些原始数据进行清洗、增强、统计分析，并最终通过可视化手段，直观地揭示全球地震活动的规律和特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背景是基于一份包含了1965到2016年间全球大地震数据的CSV文件。这份数据记录了超过两万四千条地震信息。我们的目标是通过Python对这些原始数据进行清洗、增强、统计分析，并最终通过可视化手段，直观地揭示全球地震活动的规律和特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本次项目中，我们小组进行了明确的分工。陈默同学主要负责数据的清洗和预处理工作，确保了后续分析的准确性。林溪同学负责调用高德地图API，为经纬度数据匹配具体的地名信息。周宇同学则承担了核心的统计分析和数据可视化任务。通过紧密合作，我们高效地完成了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重点介绍项目的两个核心技术实现。左侧是数据清洗与格式化，我们用pandas.to_datetime把原始的日期和时间字符串转成了结构化的datetime格式，还手动修正了3条格式异常的数据，保证了数据的完整。右侧是地理维度信息增强，通过调用高德地图的逆地理编码API，我们写了get_province函数，把经纬度转换成了具体的省份或海域信息，并存到了新的Area列里，这样后续就能做空间维度的分析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在数据可视化方面，我们利用 folium 库生成了全球地震分布地图。通过这个交互式地图，我们可以直观地看到全球地震活动的主要区域，圆圈的大小对应震级，让数据的呈现更加直观和易于理解。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我们统计了历年的地震发生次数。从这张柱状图可以看出，全球每年发生的重大地震次数总体呈上升趋势，这可能与监测技术的进步有关。同时，我们也能看到一些明显的峰值年份，这可能对应着某些活跃的地震周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这一页我们聚焦中国区域，使用folium绘制了地震分布地图。从图中可以清晰地看到，我国的地震活动主要集中在西部地区，这为我们了解我国的地震风险分布提供了直观的数据支持。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本页重点展示了利用 Plotly 和 Pyecharts 进行的地震数据可视化成果。左侧是各省地震次数的柱状图排名，右侧分别介绍了柱状图的省份频次统计、饼图的地震类型占比分析，以及词云图的频次可视化效果，多维度呈现数据特征。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亮点部分，我们还增加了一个重要的分析维度：震级与深度的关系。通过Plotly绘制的散点图，我们可以直观地看到不同震源深度所对应的地震强度。这有助于我们识别浅源、中源和深源地震的分布规律，为更深入的地质研究提供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亮点部分，我们还增加了一个重要的分析维度：震级与深度的关系。通过Plotly绘制的散点图，我们可以直观地看到不同震源深度所对应的地震强度。这有助于我们识别浅源、中源和深源地震的分布规律，为更深入的地质研究提供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总结一下本次实训的经验与教训。我们最大的收获是认识到了数据预处理的重要性，并学会了如何利用API和可视化工具来挖掘数据价值。同时，我们也遇到了一些挑战，比如数据格式的混乱、API调用的限制以及性能瓶颈。这些问题都让我们对数据分析工作有了更深刻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我们的汇报到此结束。感谢各位老师和同学的聆听！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0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6.svg"/><Relationship Id="rId15" Type="http://schemas.openxmlformats.org/officeDocument/2006/relationships/image" Target="../media/image5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.sv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image" Target="../media/image12.svg"/><Relationship Id="rId21" Type="http://schemas.openxmlformats.org/officeDocument/2006/relationships/image" Target="../media/image11.png"/><Relationship Id="rId20" Type="http://schemas.openxmlformats.org/officeDocument/2006/relationships/tags" Target="../tags/tag26.xml"/><Relationship Id="rId2" Type="http://schemas.openxmlformats.org/officeDocument/2006/relationships/tags" Target="../tags/tag14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image" Target="../media/image10.svg"/><Relationship Id="rId15" Type="http://schemas.openxmlformats.org/officeDocument/2006/relationships/image" Target="../media/image9.png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image" Target="../media/image4.svg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1" Type="http://schemas.openxmlformats.org/officeDocument/2006/relationships/notesSlide" Target="../notesSlides/notesSlide4.xml"/><Relationship Id="rId50" Type="http://schemas.openxmlformats.org/officeDocument/2006/relationships/slideLayout" Target="../slideLayouts/slideLayout12.xml"/><Relationship Id="rId5" Type="http://schemas.openxmlformats.org/officeDocument/2006/relationships/tags" Target="../tags/tag33.xml"/><Relationship Id="rId49" Type="http://schemas.openxmlformats.org/officeDocument/2006/relationships/tags" Target="../tags/tag63.xml"/><Relationship Id="rId48" Type="http://schemas.openxmlformats.org/officeDocument/2006/relationships/tags" Target="../tags/tag62.xml"/><Relationship Id="rId47" Type="http://schemas.openxmlformats.org/officeDocument/2006/relationships/image" Target="../media/image27.svg"/><Relationship Id="rId46" Type="http://schemas.openxmlformats.org/officeDocument/2006/relationships/image" Target="../media/image26.png"/><Relationship Id="rId45" Type="http://schemas.openxmlformats.org/officeDocument/2006/relationships/tags" Target="../tags/tag61.xml"/><Relationship Id="rId44" Type="http://schemas.openxmlformats.org/officeDocument/2006/relationships/tags" Target="../tags/tag60.xml"/><Relationship Id="rId43" Type="http://schemas.openxmlformats.org/officeDocument/2006/relationships/tags" Target="../tags/tag59.xml"/><Relationship Id="rId42" Type="http://schemas.openxmlformats.org/officeDocument/2006/relationships/tags" Target="../tags/tag58.xml"/><Relationship Id="rId41" Type="http://schemas.openxmlformats.org/officeDocument/2006/relationships/image" Target="../media/image25.svg"/><Relationship Id="rId40" Type="http://schemas.openxmlformats.org/officeDocument/2006/relationships/image" Target="../media/image24.png"/><Relationship Id="rId4" Type="http://schemas.openxmlformats.org/officeDocument/2006/relationships/image" Target="../media/image15.svg"/><Relationship Id="rId39" Type="http://schemas.openxmlformats.org/officeDocument/2006/relationships/tags" Target="../tags/tag57.xml"/><Relationship Id="rId38" Type="http://schemas.openxmlformats.org/officeDocument/2006/relationships/tags" Target="../tags/tag56.xml"/><Relationship Id="rId37" Type="http://schemas.openxmlformats.org/officeDocument/2006/relationships/tags" Target="../tags/tag55.xml"/><Relationship Id="rId36" Type="http://schemas.openxmlformats.org/officeDocument/2006/relationships/tags" Target="../tags/tag54.xml"/><Relationship Id="rId35" Type="http://schemas.openxmlformats.org/officeDocument/2006/relationships/image" Target="../media/image23.svg"/><Relationship Id="rId34" Type="http://schemas.openxmlformats.org/officeDocument/2006/relationships/image" Target="../media/image22.png"/><Relationship Id="rId33" Type="http://schemas.openxmlformats.org/officeDocument/2006/relationships/tags" Target="../tags/tag53.xml"/><Relationship Id="rId32" Type="http://schemas.openxmlformats.org/officeDocument/2006/relationships/tags" Target="../tags/tag52.xml"/><Relationship Id="rId31" Type="http://schemas.openxmlformats.org/officeDocument/2006/relationships/tags" Target="../tags/tag51.xml"/><Relationship Id="rId30" Type="http://schemas.openxmlformats.org/officeDocument/2006/relationships/tags" Target="../tags/tag50.xml"/><Relationship Id="rId3" Type="http://schemas.openxmlformats.org/officeDocument/2006/relationships/image" Target="../media/image14.png"/><Relationship Id="rId29" Type="http://schemas.openxmlformats.org/officeDocument/2006/relationships/image" Target="../media/image21.svg"/><Relationship Id="rId28" Type="http://schemas.openxmlformats.org/officeDocument/2006/relationships/image" Target="../media/image20.png"/><Relationship Id="rId27" Type="http://schemas.openxmlformats.org/officeDocument/2006/relationships/tags" Target="../tags/tag49.xml"/><Relationship Id="rId26" Type="http://schemas.openxmlformats.org/officeDocument/2006/relationships/tags" Target="../tags/tag48.xml"/><Relationship Id="rId25" Type="http://schemas.openxmlformats.org/officeDocument/2006/relationships/tags" Target="../tags/tag47.xml"/><Relationship Id="rId24" Type="http://schemas.openxmlformats.org/officeDocument/2006/relationships/tags" Target="../tags/tag46.xml"/><Relationship Id="rId23" Type="http://schemas.openxmlformats.org/officeDocument/2006/relationships/tags" Target="../tags/tag45.xml"/><Relationship Id="rId22" Type="http://schemas.openxmlformats.org/officeDocument/2006/relationships/image" Target="../media/image19.svg"/><Relationship Id="rId21" Type="http://schemas.openxmlformats.org/officeDocument/2006/relationships/image" Target="../media/image18.png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image" Target="../media/image17.svg"/><Relationship Id="rId15" Type="http://schemas.openxmlformats.org/officeDocument/2006/relationships/image" Target="../media/image16.png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image" Target="../media/image6.svg"/><Relationship Id="rId1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15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79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.svg"/><Relationship Id="rId6" Type="http://schemas.openxmlformats.org/officeDocument/2006/relationships/image" Target="../media/image42.png"/><Relationship Id="rId5" Type="http://schemas.openxmlformats.org/officeDocument/2006/relationships/tags" Target="../tags/tag81.xml"/><Relationship Id="rId4" Type="http://schemas.openxmlformats.org/officeDocument/2006/relationships/image" Target="../media/image19.svg"/><Relationship Id="rId3" Type="http://schemas.openxmlformats.org/officeDocument/2006/relationships/image" Target="../media/image41.png"/><Relationship Id="rId2" Type="http://schemas.openxmlformats.org/officeDocument/2006/relationships/tags" Target="../tags/tag80.xml"/><Relationship Id="rId1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image" Target="../media/image45.png"/><Relationship Id="rId6" Type="http://schemas.openxmlformats.org/officeDocument/2006/relationships/tags" Target="../tags/tag85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8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svg"/><Relationship Id="rId8" Type="http://schemas.openxmlformats.org/officeDocument/2006/relationships/image" Target="../media/image50.png"/><Relationship Id="rId7" Type="http://schemas.openxmlformats.org/officeDocument/2006/relationships/image" Target="../media/image49.svg"/><Relationship Id="rId6" Type="http://schemas.openxmlformats.org/officeDocument/2006/relationships/image" Target="../media/image48.png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tags" Target="../tags/tag91.xml"/><Relationship Id="rId21" Type="http://schemas.openxmlformats.org/officeDocument/2006/relationships/notesSlide" Target="../notesSlides/notesSlide11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90.xml"/><Relationship Id="rId19" Type="http://schemas.openxmlformats.org/officeDocument/2006/relationships/image" Target="../media/image58.png"/><Relationship Id="rId18" Type="http://schemas.openxmlformats.org/officeDocument/2006/relationships/image" Target="../media/image57.svg"/><Relationship Id="rId17" Type="http://schemas.openxmlformats.org/officeDocument/2006/relationships/image" Target="../media/image56.png"/><Relationship Id="rId16" Type="http://schemas.openxmlformats.org/officeDocument/2006/relationships/tags" Target="../tags/tag98.xml"/><Relationship Id="rId15" Type="http://schemas.openxmlformats.org/officeDocument/2006/relationships/image" Target="../media/image55.svg"/><Relationship Id="rId14" Type="http://schemas.openxmlformats.org/officeDocument/2006/relationships/image" Target="../media/image54.png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image" Target="../media/image38.sv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Relationship Id="rId3" Type="http://schemas.openxmlformats.org/officeDocument/2006/relationships/image" Target="../media/image57.svg"/><Relationship Id="rId2" Type="http://schemas.openxmlformats.org/officeDocument/2006/relationships/image" Target="../media/image56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tags" Target="../tags/tag102.xml"/><Relationship Id="rId36" Type="http://schemas.openxmlformats.org/officeDocument/2006/relationships/notesSlide" Target="../notesSlides/notesSlide13.xml"/><Relationship Id="rId35" Type="http://schemas.openxmlformats.org/officeDocument/2006/relationships/slideLayout" Target="../slideLayouts/slideLayout12.xml"/><Relationship Id="rId34" Type="http://schemas.openxmlformats.org/officeDocument/2006/relationships/tags" Target="../tags/tag118.xml"/><Relationship Id="rId33" Type="http://schemas.openxmlformats.org/officeDocument/2006/relationships/image" Target="../media/image70.svg"/><Relationship Id="rId32" Type="http://schemas.openxmlformats.org/officeDocument/2006/relationships/image" Target="../media/image69.png"/><Relationship Id="rId31" Type="http://schemas.openxmlformats.org/officeDocument/2006/relationships/tags" Target="../tags/tag117.xml"/><Relationship Id="rId30" Type="http://schemas.openxmlformats.org/officeDocument/2006/relationships/tags" Target="../tags/tag116.xml"/><Relationship Id="rId3" Type="http://schemas.openxmlformats.org/officeDocument/2006/relationships/tags" Target="../tags/tag101.xml"/><Relationship Id="rId29" Type="http://schemas.openxmlformats.org/officeDocument/2006/relationships/tags" Target="../tags/tag115.xml"/><Relationship Id="rId28" Type="http://schemas.openxmlformats.org/officeDocument/2006/relationships/image" Target="../media/image68.svg"/><Relationship Id="rId27" Type="http://schemas.openxmlformats.org/officeDocument/2006/relationships/image" Target="../media/image67.png"/><Relationship Id="rId26" Type="http://schemas.openxmlformats.org/officeDocument/2006/relationships/tags" Target="../tags/tag114.xml"/><Relationship Id="rId25" Type="http://schemas.openxmlformats.org/officeDocument/2006/relationships/tags" Target="../tags/tag113.xml"/><Relationship Id="rId24" Type="http://schemas.openxmlformats.org/officeDocument/2006/relationships/tags" Target="../tags/tag112.xml"/><Relationship Id="rId23" Type="http://schemas.openxmlformats.org/officeDocument/2006/relationships/image" Target="../media/image66.svg"/><Relationship Id="rId22" Type="http://schemas.openxmlformats.org/officeDocument/2006/relationships/image" Target="../media/image65.png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image" Target="../media/image12.svg"/><Relationship Id="rId19" Type="http://schemas.openxmlformats.org/officeDocument/2006/relationships/image" Target="../media/image64.svg"/><Relationship Id="rId18" Type="http://schemas.openxmlformats.org/officeDocument/2006/relationships/image" Target="../media/image63.png"/><Relationship Id="rId17" Type="http://schemas.openxmlformats.org/officeDocument/2006/relationships/tags" Target="../tags/tag109.xml"/><Relationship Id="rId16" Type="http://schemas.openxmlformats.org/officeDocument/2006/relationships/image" Target="../media/image25.svg"/><Relationship Id="rId15" Type="http://schemas.openxmlformats.org/officeDocument/2006/relationships/image" Target="../media/image24.png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image" Target="../media/image23.svg"/><Relationship Id="rId10" Type="http://schemas.openxmlformats.org/officeDocument/2006/relationships/image" Target="../media/image2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905000"/>
            <a:ext cx="5080000" cy="5080000"/>
          </a:xfrm>
          <a:prstGeom prst="ellipse">
            <a:avLst/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905000" y="4445000"/>
            <a:ext cx="6350000" cy="6350000"/>
          </a:xfrm>
          <a:prstGeom prst="ellipse">
            <a:avLst/>
          </a:prstGeom>
          <a:solidFill>
            <a:srgbClr val="4A90E2">
              <a:alpha val="8000"/>
            </a:srgbClr>
          </a:solidFill>
          <a:ln cap="flat" cmpd="sng">
            <a:solidFill>
              <a:srgbClr val="2E75C9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-547370" y="-18923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3137"/>
              </a:srgbClr>
            </a:fgClr>
            <a:bgClr>
              <a:srgbClr val="FFFFFF">
                <a:alpha val="0"/>
              </a:srgbClr>
            </a:bgClr>
          </a:pattFill>
          <a:ln cap="flat" cmpd="sng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228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全球大地震数据分析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68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8AB4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实训答辩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698500" y="4953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207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1460500" y="5207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小组编号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952500" y="571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2009组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4381500" y="4953000"/>
            <a:ext cx="3429000" cy="12700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520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5143500" y="5207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项目答辩人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4635500" y="571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zh-CN" altLang="en-US" sz="1800" b="1">
                <a:solidFill>
                  <a:schemeClr val="bg1">
                    <a:lumMod val="9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张施祺</a:t>
            </a:r>
            <a:r>
              <a:rPr lang="en-US" altLang="zh-CN" sz="1800" b="1">
                <a:solidFill>
                  <a:schemeClr val="bg1">
                    <a:lumMod val="9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800" b="1">
                <a:solidFill>
                  <a:schemeClr val="bg1">
                    <a:lumMod val="9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胡德彪</a:t>
            </a:r>
            <a:endParaRPr lang="zh-CN" altLang="en-US" sz="1800" b="1">
              <a:solidFill>
                <a:schemeClr val="bg1">
                  <a:lumMod val="9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8064500" y="49530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18500" y="520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7"/>
            </p:custDataLst>
          </p:nvPr>
        </p:nvSpPr>
        <p:spPr>
          <a:xfrm>
            <a:off x="8826500" y="5207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8318500" y="5715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2026年7月17日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A4F">
                <a:alpha val="100000"/>
              </a:srgbClr>
            </a:gs>
            <a:gs pos="100000">
              <a:srgbClr val="0514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524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826000"/>
            <a:ext cx="3810000" cy="3810000"/>
          </a:xfrm>
          <a:prstGeom prst="ellipse">
            <a:avLst/>
          </a:prstGeom>
          <a:solidFill>
            <a:srgbClr val="4A90E2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587500" y="2311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016000" y="2984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梳理项目的</a:t>
            </a:r>
            <a:r>
              <a:rPr lang="zh-CN" alt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</a:t>
            </a:r>
            <a:r>
              <a:rPr 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数据源构成，明确数据分析的目标与研究价值，为后续的数据清洗、建模与可视化环节确立清晰的方向与</a:t>
            </a:r>
            <a:r>
              <a:rPr lang="zh-CN" alt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</a:t>
            </a:r>
            <a:r>
              <a:rPr 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6223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34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7048500" y="2311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成员分工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6477000" y="2984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明确小组各成员的职责边界与协作模式，覆盖数据采集与预处理、模型构建与分析、可视化设计开发及报告</a:t>
            </a:r>
            <a:r>
              <a:rPr lang="zh-CN" alt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准备</a:t>
            </a:r>
            <a:r>
              <a:rPr 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等关键任务模块。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762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1587500" y="4470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技术亮点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1016000" y="5143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运用</a:t>
            </a:r>
            <a:r>
              <a:rPr 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高效的数据清洗算法与交互式可视化技术，重点展示动态图表渲染、多维度数据分析，以及在海量数据下的性能优化策略。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6223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77000" y="4508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7048500" y="4470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>
                    <a:alpha val="1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经验教训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6477000" y="5143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掌握了数据清洗的基本方法，尝试性的运用可视化放大数据洞察，但面对海量数据数据的处理存在效率低下等问题，需提高数据清洗效率</a:t>
            </a:r>
            <a:r>
              <a:rPr lang="en-US" sz="1400" b="0" i="0" u="none" strike="noStrike">
                <a:solidFill>
                  <a:srgbClr val="DCE6F0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5080000" cy="5080000"/>
          </a:xfrm>
          <a:prstGeom prst="ellipse">
            <a:avLst/>
          </a:prstGeom>
          <a:solidFill>
            <a:srgbClr val="4A90E2">
              <a:alpha val="12000"/>
            </a:srgbClr>
          </a:solidFill>
          <a:ln cap="flat" cmpd="sng">
            <a:solidFill>
              <a:srgbClr val="2E75C9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524000" y="4572000"/>
            <a:ext cx="4064000" cy="4064000"/>
          </a:xfrm>
          <a:prstGeom prst="ellipse">
            <a:avLst/>
          </a:prstGeom>
          <a:solidFill>
            <a:srgbClr val="4A90E2">
              <a:alpha val="9000"/>
            </a:srgbClr>
          </a:solidFill>
          <a:ln cap="flat" cmpd="sng">
            <a:solidFill>
              <a:srgbClr val="2E75C9">
                <a:alpha val="9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762635" y="3161665"/>
            <a:ext cx="11289665" cy="38049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8000"/>
              </a:lnSpc>
              <a:defRPr/>
            </a:pP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二、立项原因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1. 原始数据利用率低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  <a:defRPr/>
            </a:pP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公开地震数据集大多是</a:t>
            </a:r>
            <a:r>
              <a:rPr lang="en-US" altLang="zh-CN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CSV</a:t>
            </a: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结构化表格，数字堆砌无法直观看出时空分布特征，科研人员、应急管理部门很难快速提取有效信息。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  <a:defRPr/>
            </a:pP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2. 多维度规律需要整合分析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  <a:defRPr/>
            </a:pP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地震研究需要同时关注几个核心问题：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空间：全球与国内哪些省份属于地震高发区？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  <a:defRPr/>
            </a:pP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 时间：地震发生是否存在年、月周期性规律？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物理属性：震源深度和地震震级是否存在关联？不同地震类型占比如何？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cxnSp>
        <p:nvCxnSpPr>
          <p:cNvPr id="22" name="Connector 22"/>
          <p:cNvCxnSpPr/>
          <p:nvPr>
            <p:custDataLst>
              <p:tags r:id="rId3"/>
            </p:custDataLst>
          </p:nvPr>
        </p:nvCxnSpPr>
        <p:spPr>
          <a:xfrm rot="5387937">
            <a:off x="4476750" y="4025911"/>
            <a:ext cx="361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2032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0" name="文本框 39"/>
          <p:cNvSpPr txBox="1"/>
          <p:nvPr/>
        </p:nvSpPr>
        <p:spPr>
          <a:xfrm>
            <a:off x="688340" y="1851025"/>
            <a:ext cx="11503660" cy="157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一、现实行业背景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地震属于突发性极强的地质灾害，会造成人员伤亡、建筑损毁、基础设施瘫痪。我国处于环太平洋地震带与欧亚地震带交汇处，国土地震活动频发，历史上多次强震带来巨大损失。传统地震数据仅以表格存档，原始数据量大、维度杂乱，人工查阅很难发现规律。随着地理信息可视化、</a:t>
            </a:r>
            <a:r>
              <a:rPr lang="en-US" altLang="zh-CN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Python</a:t>
            </a:r>
            <a:r>
              <a:rPr lang="zh-CN" altLang="en-US" sz="18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数据分析技术普及，把海量历史地震数据转换成直观图表，成为防灾减灾、地理研究的刚需。</a:t>
            </a:r>
            <a:endParaRPr lang="zh-CN" altLang="en-US" sz="18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32">
                <a:alpha val="100000"/>
              </a:srgbClr>
            </a:gs>
            <a:gs pos="100000">
              <a:srgbClr val="142D5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5080000" cy="5080000"/>
          </a:xfrm>
          <a:prstGeom prst="ellipse">
            <a:avLst/>
          </a:prstGeom>
          <a:solidFill>
            <a:srgbClr val="4A90E2">
              <a:alpha val="12000"/>
            </a:srgbClr>
          </a:solidFill>
          <a:ln cap="flat" cmpd="sng">
            <a:solidFill>
              <a:srgbClr val="2E75C9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524000" y="4572000"/>
            <a:ext cx="4064000" cy="4064000"/>
          </a:xfrm>
          <a:prstGeom prst="ellipse">
            <a:avLst/>
          </a:prstGeom>
          <a:solidFill>
            <a:srgbClr val="4A90E2">
              <a:alpha val="9000"/>
            </a:srgbClr>
          </a:solidFill>
          <a:ln cap="flat" cmpd="sng">
            <a:solidFill>
              <a:srgbClr val="2E75C9">
                <a:alpha val="9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数据源 / DATA SOURCE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62000" y="2794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371600" y="2946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数据集载体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952500" y="34036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earthquake.csv 纯文本格式，结构清晰，包含标准化表头与</a:t>
            </a:r>
            <a:r>
              <a:rPr lang="zh-CN" alt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相应数据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3492500" y="2794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83000" y="298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102100" y="2946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统计时间</a:t>
            </a:r>
            <a:endParaRPr lang="zh-CN" altLang="en-US" sz="15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3683000" y="34036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 1965 - 2016 年，跨越半个世纪的全球地震活动观测记录。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762000" y="4445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2500" y="4635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1371600" y="4597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样本规模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952500" y="50546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总计 24,142 条有效记录，涵盖全球范围内的地震信息。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3492500" y="4445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683000" y="4635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4102100" y="4597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地震信息</a:t>
            </a:r>
            <a:endParaRPr lang="zh-CN" altLang="en-US" sz="15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3683000" y="50546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包含时间、经纬度坐标、震源深度、震级及</a:t>
            </a:r>
            <a:r>
              <a:rPr lang="zh-CN" alt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地震类型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等。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25"/>
            </p:custDataLst>
          </p:nvPr>
        </p:nvCxnSpPr>
        <p:spPr>
          <a:xfrm rot="5387937">
            <a:off x="4476750" y="4025911"/>
            <a:ext cx="361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540500" y="2032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分析目标 / ANALYSIS GOALS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6"/>
            </p:custDataLst>
          </p:nvPr>
        </p:nvSpPr>
        <p:spPr>
          <a:xfrm>
            <a:off x="6540500" y="2794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731000" y="2984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7150100" y="2946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数据清洗预处理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31"/>
            </p:custDataLst>
          </p:nvPr>
        </p:nvSpPr>
        <p:spPr>
          <a:xfrm>
            <a:off x="6731000" y="34036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使用pandas.to_datetime()统一解析日期时间，并手动修正异常数据。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32"/>
            </p:custDataLst>
          </p:nvPr>
        </p:nvSpPr>
        <p:spPr>
          <a:xfrm>
            <a:off x="9271000" y="2794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461500" y="2984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>
            <p:custDataLst>
              <p:tags r:id="rId36"/>
            </p:custDataLst>
          </p:nvPr>
        </p:nvSpPr>
        <p:spPr>
          <a:xfrm>
            <a:off x="9880600" y="2946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地理维度增强</a:t>
            </a:r>
            <a:endParaRPr lang="en-US" sz="1100"/>
          </a:p>
        </p:txBody>
      </p:sp>
      <p:sp>
        <p:nvSpPr>
          <p:cNvPr id="31" name="AutoShape 31"/>
          <p:cNvSpPr/>
          <p:nvPr>
            <p:custDataLst>
              <p:tags r:id="rId37"/>
            </p:custDataLst>
          </p:nvPr>
        </p:nvSpPr>
        <p:spPr>
          <a:xfrm>
            <a:off x="9461500" y="34036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调用高德地图API，根据经纬度获取中国境内的省份信息。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38"/>
            </p:custDataLst>
          </p:nvPr>
        </p:nvSpPr>
        <p:spPr>
          <a:xfrm>
            <a:off x="6540500" y="4445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731000" y="46355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>
            <p:custDataLst>
              <p:tags r:id="rId42"/>
            </p:custDataLst>
          </p:nvPr>
        </p:nvSpPr>
        <p:spPr>
          <a:xfrm>
            <a:off x="7150100" y="4597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多维统计洞察</a:t>
            </a:r>
            <a:endParaRPr lang="en-US" sz="1100"/>
          </a:p>
        </p:txBody>
      </p:sp>
      <p:sp>
        <p:nvSpPr>
          <p:cNvPr id="35" name="AutoShape 35"/>
          <p:cNvSpPr/>
          <p:nvPr>
            <p:custDataLst>
              <p:tags r:id="rId43"/>
            </p:custDataLst>
          </p:nvPr>
        </p:nvSpPr>
        <p:spPr>
          <a:xfrm>
            <a:off x="6731000" y="50546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按时间（年/月/日）、地理位置（国家/省份）、地震类型、震级与深度进行分组统计。</a:t>
            </a:r>
            <a:endParaRPr lang="en-US" sz="1100"/>
          </a:p>
        </p:txBody>
      </p:sp>
      <p:sp>
        <p:nvSpPr>
          <p:cNvPr id="36" name="AutoShape 36"/>
          <p:cNvSpPr/>
          <p:nvPr>
            <p:custDataLst>
              <p:tags r:id="rId44"/>
            </p:custDataLst>
          </p:nvPr>
        </p:nvSpPr>
        <p:spPr>
          <a:xfrm>
            <a:off x="9271000" y="4445000"/>
            <a:ext cx="2603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461500" y="46355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>
            <p:custDataLst>
              <p:tags r:id="rId48"/>
            </p:custDataLst>
          </p:nvPr>
        </p:nvSpPr>
        <p:spPr>
          <a:xfrm>
            <a:off x="9880600" y="4597400"/>
            <a:ext cx="184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交互式可视呈现</a:t>
            </a:r>
            <a:endParaRPr lang="en-US" sz="1100"/>
          </a:p>
        </p:txBody>
      </p:sp>
      <p:sp>
        <p:nvSpPr>
          <p:cNvPr id="39" name="AutoShape 39"/>
          <p:cNvSpPr/>
          <p:nvPr>
            <p:custDataLst>
              <p:tags r:id="rId49"/>
            </p:custDataLst>
          </p:nvPr>
        </p:nvSpPr>
        <p:spPr>
          <a:xfrm>
            <a:off x="9461500" y="50546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使用folium, plotly, pyecharts生成地图、柱状图、饼图、散点图和词云图。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A43">
                <a:alpha val="100000"/>
              </a:srgbClr>
            </a:gs>
            <a:gs pos="100000">
              <a:srgbClr val="05193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成员分工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45795" y="2386330"/>
            <a:ext cx="5080000" cy="2947670"/>
          </a:xfrm>
          <a:prstGeom prst="roundRect">
            <a:avLst>
              <a:gd name="adj" fmla="val 0"/>
            </a:avLst>
          </a:prstGeom>
          <a:solidFill>
            <a:srgbClr val="4A90E2">
              <a:alpha val="8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cxnSp>
        <p:nvCxnSpPr>
          <p:cNvPr id="7" name="Connector 7"/>
          <p:cNvCxnSpPr/>
          <p:nvPr>
            <p:custDataLst>
              <p:tags r:id="rId2"/>
            </p:custDataLst>
          </p:nvPr>
        </p:nvCxnSpPr>
        <p:spPr>
          <a:xfrm rot="-9549">
            <a:off x="1016009" y="310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1016000" y="3365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代码编写与数据处理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1016000" y="3937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负责项目核心代码的编写，包括数据清洗、API调用、统计分析等关键模块的实现。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413000"/>
            <a:ext cx="406400" cy="406400"/>
          </a:xfrm>
          <a:prstGeom prst="rect">
            <a:avLst/>
          </a:prstGeom>
        </p:spPr>
      </p:pic>
      <p:cxnSp>
        <p:nvCxnSpPr>
          <p:cNvPr id="12" name="Connector 12"/>
          <p:cNvCxnSpPr/>
          <p:nvPr>
            <p:custDataLst>
              <p:tags r:id="rId8"/>
            </p:custDataLst>
          </p:nvPr>
        </p:nvCxnSpPr>
        <p:spPr>
          <a:xfrm rot="-9549">
            <a:off x="6604009" y="3105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604000" y="3365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代码检查、PPT制作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604000" y="3937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负责对代码进行审查和优化</a:t>
            </a:r>
            <a:r>
              <a:rPr lang="zh-CN" altLang="en-US" sz="14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，可视化整理，答辩</a:t>
            </a:r>
            <a:r>
              <a:rPr lang="en-US" altLang="zh-CN" sz="14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ppt</a:t>
            </a:r>
            <a:r>
              <a:rPr lang="zh-CN" altLang="en-US" sz="1400" b="0" i="0" u="none" strike="noStrike">
                <a:solidFill>
                  <a:srgbClr val="E5E7EB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制作</a:t>
            </a:r>
            <a:endParaRPr lang="zh-CN" altLang="en-US" sz="1400" b="0" i="0" u="none" strike="noStrike">
              <a:solidFill>
                <a:srgbClr val="E5E7EB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57404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协作成果：通过明确的两人分工，团队高效地完成了从数据处理到最终答辩的全过程，充分发挥了各自的优势。</a:t>
            </a:r>
            <a:endParaRPr lang="en-US" sz="1100"/>
          </a:p>
        </p:txBody>
      </p:sp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2539365" y="2776855"/>
            <a:ext cx="4566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张施祺</a:t>
            </a:r>
            <a:endParaRPr lang="zh-CN" altLang="en-US" sz="180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10" name="Picture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386965"/>
            <a:ext cx="406400" cy="4064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8616315" y="2778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</a:rPr>
              <a:t>胡德彪</a:t>
            </a:r>
            <a:endParaRPr lang="zh-CN" altLang="en-US" sz="180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8" name="AutoShape 5"/>
          <p:cNvSpPr/>
          <p:nvPr>
            <p:custDataLst>
              <p:tags r:id="rId14"/>
            </p:custDataLst>
          </p:nvPr>
        </p:nvSpPr>
        <p:spPr>
          <a:xfrm>
            <a:off x="6487795" y="2413000"/>
            <a:ext cx="5080000" cy="2947670"/>
          </a:xfrm>
          <a:prstGeom prst="roundRect">
            <a:avLst>
              <a:gd name="adj" fmla="val 0"/>
            </a:avLst>
          </a:prstGeom>
          <a:solidFill>
            <a:srgbClr val="4A90E2">
              <a:alpha val="8000"/>
            </a:srgbClr>
          </a:solidFill>
          <a:ln w="12700" cap="flat" cmpd="sng">
            <a:solidFill>
              <a:srgbClr val="4A90E2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>
                <a:alpha val="100000"/>
              </a:srgbClr>
            </a:gs>
            <a:gs pos="100000">
              <a:srgbClr val="11224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3810000"/>
            <a:ext cx="3810000" cy="381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4A90E2">
              <a:alpha val="8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3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数据清洗与格式化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533650"/>
            <a:ext cx="476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924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pandas.to_datetime() 方法，将原始数据中的 Date 和 Time 列转换为结构化的 datetime64 日期时间格式，为时序分析奠定基础。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难点攻克：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针对索引 3378、7512、20650 这 3 行因格式异常无法自动解析的记录，通过构造 datetime 对象手动赋值修正，确保数据完整性。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597400"/>
            <a:ext cx="4762500" cy="50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12700" cap="flat" cmpd="sng">
            <a:solidFill>
              <a:srgbClr val="4A90E2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17600" y="46990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7CEFA"/>
                </a:solidFill>
                <a:latin typeface="Roboto Mono"/>
                <a:ea typeface="Roboto Mono"/>
                <a:cs typeface="Roboto Mono"/>
                <a:sym typeface="Roboto Mono"/>
              </a:rPr>
              <a:t>df['dt'] = pd.to_datetime(df['Date']+' '+df['Time'])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500" y="1778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4A90E2">
              <a:alpha val="8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032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85000" y="2032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地理维度信息增强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167">
            <a:off x="6540508" y="2533650"/>
            <a:ext cx="476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540500" y="26924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调用：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 get_province 函数，通过 requests.get 调用高德地图逆地理编码 API，传入经纬度参数获取行政区域信息。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36195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实现逻辑：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循环遍历数据集，解析 API 返回结果，提取中国境内的省份或海域名称，将其存储在新的 Area 列中，丰富数据空间属性。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4597400"/>
            <a:ext cx="4762500" cy="50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12700" cap="flat" cmpd="sng">
            <a:solidFill>
              <a:srgbClr val="4A90E2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42100" y="46990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7CE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核心逻辑：解析经纬度 → 调用 API → 提取区域 → 写入 Area 列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524500"/>
            <a:ext cx="5270500" cy="889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7277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56261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数据清洗与格式化完成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完成日期时间结构化转换，异常数据已手动修正，数据完整性达标。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86500" y="5524500"/>
            <a:ext cx="5270500" cy="889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57277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048500" y="56261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地理维度信息增强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成功调用高德 API 补全区域信息，新增 Area 列支撑空间维度分析。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72E">
                <a:alpha val="100000"/>
              </a:srgbClr>
            </a:gs>
            <a:gs pos="100000">
              <a:srgbClr val="14285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721725" y="-1143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4A90E2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技术亮点：全球地震分布 (folium)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3975735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0" y="6223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图示：1965-2016年全球大地震分布热力图（震级与震源深度可视化）</a:t>
            </a:r>
            <a:endParaRPr lang="en-US" sz="1100"/>
          </a:p>
        </p:txBody>
      </p:sp>
      <p:pic>
        <p:nvPicPr>
          <p:cNvPr id="6" name="图片 5" descr="01c85b90abfa2a6a38d5c6d68a4fbac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553335"/>
            <a:ext cx="6095365" cy="37331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0210" y="2312035"/>
            <a:ext cx="5617210" cy="3702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借助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Python Folium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库构建交互式全球地震地图，读取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cleaned_data.csv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数据集，按照经纬度对地震事件进行散点标注，标记圆圈半径和震级正相关，清晰呈现环太平洋、欧亚两大全球地震高发带的空间分布特征。</a:t>
            </a:r>
            <a:endParaRPr lang="zh-CN" altLang="en-US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技术实现流程</a:t>
            </a:r>
            <a:endParaRPr lang="zh-CN" altLang="en-US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 数据读取：提取数据集内经度、纬度、震级、震源深度关键字段</a:t>
            </a:r>
            <a:endParaRPr lang="zh-CN" altLang="en-US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 地图渲染：初始化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Folium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底图，批量生成点位标记并附带震级大小</a:t>
            </a:r>
            <a:endParaRPr lang="zh-CN" altLang="en-US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 交互输出：导出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HTML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格式文件，支持缩放、点击查看单条地震详情</a:t>
            </a:r>
            <a:endParaRPr lang="zh-CN" altLang="en-US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10"/>
          <p:cNvSpPr/>
          <p:nvPr>
            <p:custDataLst>
              <p:tags r:id="rId2"/>
            </p:custDataLst>
          </p:nvPr>
        </p:nvSpPr>
        <p:spPr>
          <a:xfrm>
            <a:off x="-13970" y="4158615"/>
            <a:ext cx="6027420" cy="185547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>
            <a:off x="-635" y="2794000"/>
            <a:ext cx="6028055" cy="11430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2794000"/>
            <a:ext cx="355600" cy="355600"/>
          </a:xfrm>
          <a:prstGeom prst="rect">
            <a:avLst/>
          </a:prstGeom>
        </p:spPr>
      </p:pic>
      <p:pic>
        <p:nvPicPr>
          <p:cNvPr id="12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3970" y="4158615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2342">
                <a:alpha val="100000"/>
              </a:srgbClr>
            </a:gs>
            <a:gs pos="100000">
              <a:srgbClr val="163A6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524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826000"/>
            <a:ext cx="3810000" cy="381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技术亮点：时间维度分析 (plotly)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地震频次时间分布可视化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4242435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使用plotly.express绘制柱状图，展示1965-2016年间每年、每月、每日发生重大地震的次数变化趋势，并从地质活动周期、监测技术发展等角度分析其波动原因。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994910"/>
            <a:ext cx="4132580" cy="1016000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73455" y="5098415"/>
            <a:ext cx="3820160" cy="9131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64B5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数据洞察：</a:t>
            </a: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从年、月、日多时间粒度拆解地震频次，不仅能直观发现地壳活动的周期性规律，也能体现监测技术迭代对数据采集完整性的影响。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5905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图示：基于plotly绘制的1965-2016年地震频次时间分布</a:t>
            </a:r>
            <a:endParaRPr lang="en-US" sz="11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435" y="2667000"/>
            <a:ext cx="7187565" cy="3343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4A90E2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技术亮点：中国地震分布 (folium)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98500" y="2032000"/>
            <a:ext cx="4445000" cy="355600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5778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数据来源：1965-2016年中国地震台网中心统计。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67145" y="2864485"/>
            <a:ext cx="5062855" cy="32315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pic>
        <p:nvPicPr>
          <p:cNvPr id="11" name="图片 10" descr="cc4960163d63eff778d115e69390bfb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1955800"/>
            <a:ext cx="6314440" cy="40246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74180" y="1748790"/>
            <a:ext cx="5418455" cy="4231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聚焦中国区域，使用</a:t>
            </a:r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Folium</a:t>
            </a:r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绘制高精度国内地震点位地图，依托高德逆地理编码</a:t>
            </a:r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</a:t>
            </a:r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将经纬度匹配至省级行政区，清晰体现我国地震活动集中在西部板块交界区域，为地震风险研判与防灾规划提供直观的数据支撑。</a:t>
            </a:r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技术实现</a:t>
            </a:r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 数据筛选：划定经纬度范围，从全球数据中提取中国境内地震记录</a:t>
            </a:r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 地图绘制：在</a:t>
            </a:r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Folium</a:t>
            </a:r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底图生成点位标记，点击可查看震级、深度、时间详情</a:t>
            </a:r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 文件导出：生成可缩放浏览的</a:t>
            </a:r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HTML</a:t>
            </a:r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交互式地图文件</a:t>
            </a:r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数据来源：1965–2016年中国地震台网中心公开统计数据集</a:t>
            </a:r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endParaRPr lang="en-US" altLang="zh-CN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/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9380" y="1955800"/>
            <a:ext cx="304800" cy="304800"/>
          </a:xfrm>
          <a:prstGeom prst="rect">
            <a:avLst/>
          </a:prstGeom>
        </p:spPr>
      </p:pic>
      <p:pic>
        <p:nvPicPr>
          <p:cNvPr id="9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9380" y="3276600"/>
            <a:ext cx="304800" cy="304800"/>
          </a:xfrm>
          <a:prstGeom prst="rect">
            <a:avLst/>
          </a:prstGeom>
        </p:spPr>
      </p:pic>
      <p:sp>
        <p:nvSpPr>
          <p:cNvPr id="12" name="AutoShape 7"/>
          <p:cNvSpPr/>
          <p:nvPr/>
        </p:nvSpPr>
        <p:spPr>
          <a:xfrm>
            <a:off x="6468745" y="1953260"/>
            <a:ext cx="5785485" cy="911225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7"/>
          <p:cNvSpPr/>
          <p:nvPr/>
        </p:nvSpPr>
        <p:spPr>
          <a:xfrm>
            <a:off x="6470015" y="3277235"/>
            <a:ext cx="5722620" cy="2017395"/>
          </a:xfrm>
          <a:prstGeom prst="roundRect">
            <a:avLst>
              <a:gd name="adj" fmla="val 0"/>
            </a:avLst>
          </a:prstGeom>
          <a:solidFill>
            <a:srgbClr val="4A90E2">
              <a:alpha val="12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B4A">
                <a:alpha val="100000"/>
              </a:srgbClr>
            </a:gs>
            <a:gs pos="100000">
              <a:srgbClr val="0A192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技术亮点：中国省份统计 (plotly &amp; pyecharts)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基于清洗完成的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cleaned_date.csv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，筛选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1955——2016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年中国境内地震数据，借助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Pandas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完成省份地震频次统计，搭配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Plotly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生成交互式柱状图和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Pyecharts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生成省份词云，直观展示国内地震地域分布差异；同时配套地震类型饼图，实现地理</a:t>
            </a:r>
            <a:r>
              <a:rPr lang="en-US" altLang="zh-CN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+</a:t>
            </a:r>
            <a:r>
              <a:rPr lang="zh-CN" altLang="en-US" sz="16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类型双维度统计可视化。</a:t>
            </a:r>
            <a:endParaRPr lang="zh-CN" altLang="en-US" sz="16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"/>
            </p:custDataLst>
          </p:nvPr>
        </p:nvSpPr>
        <p:spPr>
          <a:xfrm>
            <a:off x="6540500" y="396875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2"/>
            </p:custDataLst>
          </p:nvPr>
        </p:nvSpPr>
        <p:spPr>
          <a:xfrm>
            <a:off x="5969000" y="2590800"/>
            <a:ext cx="5588000" cy="951865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8205" y="2722245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6"/>
            </p:custDataLst>
          </p:nvPr>
        </p:nvSpPr>
        <p:spPr>
          <a:xfrm>
            <a:off x="6329045" y="2590800"/>
            <a:ext cx="488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词云图：频次可视化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pyecharts 生成词云图，以视觉权重方式展示各省地震次数，让数据分布更具表现力和可读性。</a:t>
            </a:r>
            <a:endParaRPr 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35" y="2667000"/>
            <a:ext cx="5839460" cy="38112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263005" y="4120515"/>
            <a:ext cx="49549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数据组装：遍历省份统计表，将【省份名称</a:t>
            </a:r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——</a:t>
            </a:r>
            <a:r>
              <a:rPr lang="zh-CN" altLang="en-US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地震次数】封装为二元列表，作为词云数据源。</a:t>
            </a:r>
            <a:endParaRPr lang="zh-CN" altLang="en-US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13"/>
          <p:cNvSpPr/>
          <p:nvPr>
            <p:custDataLst>
              <p:tags r:id="rId8"/>
            </p:custDataLst>
          </p:nvPr>
        </p:nvSpPr>
        <p:spPr>
          <a:xfrm>
            <a:off x="5969000" y="5227955"/>
            <a:ext cx="5588000" cy="807085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altLang="zh-CN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             </a:t>
            </a:r>
            <a:endParaRPr lang="zh-CN" sz="12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29045" y="5219700"/>
            <a:ext cx="48895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可视化优势：舍弃坐标轴，轻量化展示地域热度，视觉突出高风险地震区域</a:t>
            </a:r>
            <a:r>
              <a:rPr lang="zh-CN">
                <a:latin typeface="Noto Sans SC" panose="020B0200000000000000" charset="-122"/>
                <a:ea typeface="Noto Sans SC" panose="020B0200000000000000" charset="-122"/>
                <a:sym typeface="+mn-ea"/>
              </a:rPr>
              <a:t>。</a:t>
            </a:r>
            <a:endParaRPr lang="zh-CN">
              <a:latin typeface="Noto Sans SC" panose="020B0200000000000000" charset="-122"/>
              <a:ea typeface="Noto Sans SC" panose="020B0200000000000000" charset="-122"/>
            </a:endParaRPr>
          </a:p>
          <a:p>
            <a:endParaRPr lang="zh-CN" altLang="en-US"/>
          </a:p>
        </p:txBody>
      </p:sp>
      <p:sp>
        <p:nvSpPr>
          <p:cNvPr id="11" name="AutoShape 13"/>
          <p:cNvSpPr/>
          <p:nvPr>
            <p:custDataLst>
              <p:tags r:id="rId9"/>
            </p:custDataLst>
          </p:nvPr>
        </p:nvSpPr>
        <p:spPr>
          <a:xfrm>
            <a:off x="5958205" y="4040505"/>
            <a:ext cx="5588000" cy="73787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文本框 18"/>
          <p:cNvSpPr txBox="1"/>
          <p:nvPr/>
        </p:nvSpPr>
        <p:spPr>
          <a:xfrm>
            <a:off x="474345" y="6478270"/>
            <a:ext cx="562165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数据来源：1965–2016年中国地震台网中心公开统计数据集</a:t>
            </a:r>
            <a:endParaRPr lang="zh-CN" alt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025" y="0"/>
            <a:ext cx="6236335" cy="28911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310" y="3456940"/>
            <a:ext cx="5965825" cy="30543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74090" y="3773805"/>
            <a:ext cx="4686300" cy="868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8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柱状图：省份频次排名</a:t>
            </a:r>
            <a:br>
              <a:rPr lang="en-US" sz="160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plotly.express 统计中国各省地震次数并排名，清晰展示地震发生频率最高的省份，直观呈现区域分布差异。</a:t>
            </a:r>
            <a:endParaRPr lang="en-US" altLang="en-US" sz="1200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002780" y="638810"/>
            <a:ext cx="5105400" cy="704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8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饼图：地震类型占比</a:t>
            </a:r>
            <a:br>
              <a:rPr lang="en-US" sz="160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分析中国境内不同地震类型（如构造地震、火山地震等）的数量占比，挖掘地震活动的类型特征与规律。</a:t>
            </a:r>
            <a:endParaRPr lang="en-US" altLang="en-US" sz="1200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6631305" y="638175"/>
            <a:ext cx="5334635" cy="792480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lvl="0" algn="ctr">
              <a:buSzTx/>
              <a:defRPr/>
            </a:pPr>
            <a:endParaRPr>
              <a:sym typeface="+mn-ea"/>
            </a:endParaRPr>
          </a:p>
        </p:txBody>
      </p:sp>
      <p:sp>
        <p:nvSpPr>
          <p:cNvPr id="6" name="AutoShape 10"/>
          <p:cNvSpPr/>
          <p:nvPr>
            <p:custDataLst>
              <p:tags r:id="rId5"/>
            </p:custDataLst>
          </p:nvPr>
        </p:nvSpPr>
        <p:spPr>
          <a:xfrm>
            <a:off x="314325" y="3762375"/>
            <a:ext cx="5838190" cy="793115"/>
          </a:xfrm>
          <a:prstGeom prst="roundRect">
            <a:avLst>
              <a:gd name="adj" fmla="val 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文本框 4"/>
          <p:cNvSpPr txBox="1"/>
          <p:nvPr/>
        </p:nvSpPr>
        <p:spPr>
          <a:xfrm>
            <a:off x="7086600" y="1852930"/>
            <a:ext cx="4879340" cy="720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</a:t>
            </a:r>
            <a:r>
              <a:rPr lang="en-US" altLang="zh-CN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Pandas</a:t>
            </a:r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对清洗数据集</a:t>
            </a:r>
            <a:r>
              <a:rPr lang="en-US" altLang="zh-CN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cleaned_data.csv</a:t>
            </a:r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按地震类型分组统计，生成</a:t>
            </a:r>
            <a:r>
              <a:rPr lang="en-US" altLang="zh-CN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china_type_counts.csv，</a:t>
            </a:r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再利用</a:t>
            </a:r>
            <a:r>
              <a:rPr lang="en-US" altLang="zh-CN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Plotly</a:t>
            </a:r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绘制交互式饼图</a:t>
            </a:r>
            <a:r>
              <a:rPr lang="en-US" altLang="zh-CN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</a:t>
            </a:r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能够悬浮查看各类地震数量占比，以此分析构造地震、火山地震、塌陷地震的结构规律。</a:t>
            </a:r>
            <a:endParaRPr lang="zh-CN" altLang="en-US" sz="12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631305" y="1855470"/>
            <a:ext cx="5334635" cy="814705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14"/>
          <p:cNvSpPr/>
          <p:nvPr/>
        </p:nvSpPr>
        <p:spPr>
          <a:xfrm>
            <a:off x="313690" y="5001895"/>
            <a:ext cx="5838825" cy="78613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文本框 11"/>
          <p:cNvSpPr txBox="1"/>
          <p:nvPr/>
        </p:nvSpPr>
        <p:spPr>
          <a:xfrm>
            <a:off x="2567305" y="506793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90295" y="5067300"/>
            <a:ext cx="4570095" cy="828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基于高德地图逆地理编码接口解析的省份数据，用</a:t>
            </a:r>
            <a:r>
              <a:rPr lang="en-US" altLang="zh-CN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value_counts()</a:t>
            </a:r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完成各地震次数聚合，通过</a:t>
            </a:r>
            <a:r>
              <a:rPr lang="en-US" altLang="zh-CN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plotly.express</a:t>
            </a:r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生成交互式柱状图</a:t>
            </a:r>
            <a:r>
              <a:rPr lang="en-US" altLang="zh-CN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，</a:t>
            </a:r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支持缩放、悬停查看精准数值，清晰对比各省份地震发生频率差异</a:t>
            </a:r>
            <a:endParaRPr lang="zh-CN" altLang="en-US" sz="1200">
              <a:solidFill>
                <a:schemeClr val="bg2">
                  <a:lumMod val="20000"/>
                  <a:lumOff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7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490" y="3733800"/>
            <a:ext cx="355600" cy="355600"/>
          </a:xfrm>
          <a:prstGeom prst="rect">
            <a:avLst/>
          </a:prstGeom>
        </p:spPr>
      </p:pic>
      <p:pic>
        <p:nvPicPr>
          <p:cNvPr id="18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6400" y="638810"/>
            <a:ext cx="330200" cy="330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5025" y="2967990"/>
            <a:ext cx="53289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数据来源：1965–2016年中国地震台网中心公开统计数据集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7086600" y="6511925"/>
            <a:ext cx="6763385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数据来源：1965–2016年中国地震台网中心公开统计数据集</a:t>
            </a:r>
            <a:endParaRPr lang="zh-CN" alt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5080000" cy="508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技术亮点：震级与深度关系分析 (plotly)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震级-深度分布可视化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508000" y="2413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" y="2641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193800" y="25654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技术实现：交互式矢量绘图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CCCC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plotly.express.scatter() 构建双轴散点模型，以震源深度为X轴、震级强度为Y轴，自动生成可嵌入网页的 HTML 交互图表，实现数据的高精度可视化映射。</a:t>
            </a:r>
            <a:endParaRPr lang="en-US" sz="1400" b="0" i="0" u="none" strike="noStrike">
              <a:solidFill>
                <a:srgbClr val="CCCCC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508000" y="37465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200" y="39751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193800" y="38989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交互体验：动态探索与细节聚焦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CCCC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支持鼠标</a:t>
            </a:r>
            <a:r>
              <a:rPr lang="zh-CN" altLang="en-US" sz="1400" b="0" i="0" u="none" strike="noStrike">
                <a:solidFill>
                  <a:srgbClr val="CCCC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</a:t>
            </a:r>
            <a:r>
              <a:rPr lang="en-US" sz="1400" b="0" i="0" u="none" strike="noStrike">
                <a:solidFill>
                  <a:srgbClr val="CCCC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实时查看单点精确震级与深度值，内置自由缩放、平移与区域聚焦功能，可灵活筛选浅源、中源或深源地震数据，快速洞察局部异常分布。</a:t>
            </a:r>
            <a:endParaRPr lang="en-US" sz="1400" b="0" i="0" u="none" strike="noStrike">
              <a:solidFill>
                <a:srgbClr val="CCCCC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508000" y="5080000"/>
            <a:ext cx="533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1200" y="5308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1193800" y="52324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分析价值：揭示地质关联规律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CCCC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量化震源深度与能量释放的相关性，识别不同深度层级的地震活动特征，为研究地壳运动机制、评估地震灾害风险及制定防灾策略提供直观的数据支撑。</a:t>
            </a:r>
            <a:endParaRPr lang="en-US" sz="1400" b="0" i="0" u="none" strike="noStrike">
              <a:solidFill>
                <a:srgbClr val="CCCCC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2702560"/>
            <a:ext cx="5461000" cy="3583940"/>
          </a:xfrm>
          <a:prstGeom prst="roundRect">
            <a:avLst>
              <a:gd name="adj" fmla="val 0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13500" y="2603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图表预览：震级(M)与深度(km)散点分布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3175000"/>
            <a:ext cx="4953000" cy="2032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4400" y="3683000"/>
            <a:ext cx="711200" cy="711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413500" y="4508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magnitude_depth_scatter.html (交互图表预览位)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5397500"/>
            <a:ext cx="4953000" cy="363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3500" y="3174365"/>
            <a:ext cx="4953000" cy="282257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6884035" y="6069330"/>
            <a:ext cx="5834380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数据来源：1965–2016年中国地震台网中心公开统计数据集</a:t>
            </a:r>
            <a:endParaRPr lang="zh-CN" alt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技术亮点：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</a:t>
            </a:r>
            <a:r>
              <a:rPr lang="en-US" altLang="zh-CN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500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地震</a:t>
            </a: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1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震级-深度分布可视化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413000"/>
            <a:ext cx="5461000" cy="3873500"/>
          </a:xfrm>
          <a:prstGeom prst="roundRect">
            <a:avLst>
              <a:gd name="adj" fmla="val 0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98500" y="2731135"/>
            <a:ext cx="5080000" cy="396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图表预览：top500 depth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3175000"/>
            <a:ext cx="4953000" cy="2032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400" y="3683000"/>
            <a:ext cx="711200" cy="711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413500" y="4508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magnitude_depth_scatter.html (交互图表预览位)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5397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pic>
        <p:nvPicPr>
          <p:cNvPr id="22" name="图片 21" descr="b5aaa7cc1f395113c4e5b65be54c805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0" y="3175000"/>
            <a:ext cx="4952365" cy="2032000"/>
          </a:xfrm>
          <a:prstGeom prst="rect">
            <a:avLst/>
          </a:prstGeom>
        </p:spPr>
      </p:pic>
      <p:sp>
        <p:nvSpPr>
          <p:cNvPr id="26" name="AutoShape 16"/>
          <p:cNvSpPr/>
          <p:nvPr/>
        </p:nvSpPr>
        <p:spPr>
          <a:xfrm>
            <a:off x="6540500" y="2730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AE6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图表预览：top500 magnitude</a:t>
            </a:r>
            <a:endParaRPr lang="en-US" sz="1100"/>
          </a:p>
        </p:txBody>
      </p:sp>
      <p:sp>
        <p:nvSpPr>
          <p:cNvPr id="27" name="AutoShape 15"/>
          <p:cNvSpPr/>
          <p:nvPr/>
        </p:nvSpPr>
        <p:spPr>
          <a:xfrm>
            <a:off x="317500" y="2413000"/>
            <a:ext cx="5461000" cy="3873500"/>
          </a:xfrm>
          <a:prstGeom prst="roundRect">
            <a:avLst>
              <a:gd name="adj" fmla="val 0"/>
            </a:avLst>
          </a:prstGeom>
          <a:solidFill>
            <a:srgbClr val="1E293B">
              <a:alpha val="4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7"/>
          <p:cNvSpPr/>
          <p:nvPr/>
        </p:nvSpPr>
        <p:spPr>
          <a:xfrm>
            <a:off x="635000" y="3175000"/>
            <a:ext cx="4953000" cy="2032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FFFFF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图片 28" descr="29f3efa7f799db56b23f7b5b3cb3e06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635" y="3111500"/>
            <a:ext cx="5078730" cy="2032000"/>
          </a:xfrm>
          <a:prstGeom prst="rect">
            <a:avLst/>
          </a:prstGeom>
        </p:spPr>
      </p:pic>
      <p:sp>
        <p:nvSpPr>
          <p:cNvPr id="31" name="AutoShape 7"/>
          <p:cNvSpPr/>
          <p:nvPr>
            <p:custDataLst>
              <p:tags r:id="rId6"/>
            </p:custDataLst>
          </p:nvPr>
        </p:nvSpPr>
        <p:spPr>
          <a:xfrm>
            <a:off x="6223000" y="5397500"/>
            <a:ext cx="5460365" cy="664845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7"/>
          <p:cNvSpPr/>
          <p:nvPr>
            <p:custDataLst>
              <p:tags r:id="rId7"/>
            </p:custDataLst>
          </p:nvPr>
        </p:nvSpPr>
        <p:spPr>
          <a:xfrm>
            <a:off x="318135" y="5397500"/>
            <a:ext cx="5461000" cy="66421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23"/>
          <p:cNvSpPr/>
          <p:nvPr/>
        </p:nvSpPr>
        <p:spPr>
          <a:xfrm>
            <a:off x="508000" y="5502910"/>
            <a:ext cx="5080000" cy="7581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按震源深度数值降序排序，还对数值缩放控制标记圈的尺寸。</a:t>
            </a:r>
            <a:endParaRPr lang="zh-CN" altLang="en-US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区分深浅源地理分布，辅助地质规律研究，形成差异化对比分析</a:t>
            </a:r>
            <a:endParaRPr lang="zh-CN" altLang="en-US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23"/>
          <p:cNvSpPr/>
          <p:nvPr/>
        </p:nvSpPr>
        <p:spPr>
          <a:xfrm>
            <a:off x="6477635" y="5626100"/>
            <a:ext cx="477139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414135" y="5397500"/>
            <a:ext cx="4952365" cy="663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按震级数值降序排序，还对数值放大让标记圈的尺寸更大。</a:t>
            </a:r>
            <a:endParaRPr lang="zh-CN" altLang="en-US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r>
              <a:rPr lang="zh-CN" altLang="en-US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聚焦重大灾害地震，为防震减灾提供参考</a:t>
            </a:r>
            <a:endParaRPr lang="zh-CN" altLang="en-US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30210" y="6350000"/>
            <a:ext cx="461899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chemeClr val="bg2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数据来源：1965–2016年中国地震台网中心公开统计数据集</a:t>
            </a:r>
            <a:endParaRPr lang="zh-CN" alt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92D">
                <a:alpha val="100000"/>
              </a:srgbClr>
            </a:gs>
            <a:gs pos="100000">
              <a:srgbClr val="1C375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460500"/>
            <a:ext cx="4445000" cy="4445000"/>
          </a:xfrm>
          <a:prstGeom prst="ellipse">
            <a:avLst/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4826000"/>
            <a:ext cx="3556000" cy="3556000"/>
          </a:xfrm>
          <a:prstGeom prst="ellipse">
            <a:avLst/>
          </a:prstGeom>
          <a:solidFill>
            <a:srgbClr val="4A90E2">
              <a:alpha val="8000"/>
            </a:srgbClr>
          </a:solidFill>
          <a:ln cap="flat" cmpd="sng">
            <a:solidFill>
              <a:srgbClr val="2E75C9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经验教训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93800" y="1879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经验收获</a:t>
            </a: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KEY TAKEAWAYS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254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908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524000" y="2667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数据预处理是核心基石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深刻理解“垃圾进，垃圾出”原则，高质量的数据清洗与标准化是所有分析结论可靠性的前提，决定了模型的上限。</a:t>
            </a:r>
            <a:endParaRPr lang="en-US" sz="1300" b="0" i="0" u="none" strike="noStrike">
              <a:solidFill>
                <a:srgbClr val="E5E7E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762000" y="381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178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1524000" y="3937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拓宽数据价值边界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学会利用外部API（如地图、天气）补充维度信息，打破自有数据的局限，为分析提供更丰富的上下文支撑。</a:t>
            </a:r>
            <a:endParaRPr lang="en-US" sz="1300" b="0" i="0" u="none" strike="noStrike">
              <a:solidFill>
                <a:srgbClr val="E5E7E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762000" y="508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2500" y="54483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1524000" y="5207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可视化是洞察的放大镜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通过图表将枯燥数据转化为直观的趋势与规律，不仅提升了结论的说服力，更能快速发现数据背后的隐藏模式。</a:t>
            </a:r>
            <a:endParaRPr lang="en-US" sz="1300" b="0" i="0" u="none" strike="noStrike">
              <a:solidFill>
                <a:srgbClr val="E5E7E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23000" y="1905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654800" y="1879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遇到的挑战</a:t>
            </a: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CHALLENGES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6223000" y="254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13500" y="29083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6985000" y="2667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异构数据的清洗与对齐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原始数据中的日期时间格式不统一，需要编写额外逻辑处理异常值。</a:t>
            </a:r>
            <a:endParaRPr lang="en-US" sz="1300" b="0" i="0" u="none" strike="noStrike">
              <a:solidFill>
                <a:srgbClr val="E5E7E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6223000" y="381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13500" y="41783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9"/>
            </p:custDataLst>
          </p:nvPr>
        </p:nvSpPr>
        <p:spPr>
          <a:xfrm>
            <a:off x="6985000" y="3937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API调用的频率与并发限制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高德地图API存在调用频率限制，在处理大量数据时需要优化请求策略，避免被临时封禁。</a:t>
            </a:r>
            <a:endParaRPr lang="en-US" sz="1300" b="0" i="0" u="none" strike="noStrike">
              <a:solidFill>
                <a:srgbClr val="E5E7E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30"/>
            </p:custDataLst>
          </p:nvPr>
        </p:nvSpPr>
        <p:spPr>
          <a:xfrm>
            <a:off x="6223000" y="508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413500" y="54483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4"/>
            </p:custDataLst>
          </p:nvPr>
        </p:nvSpPr>
        <p:spPr>
          <a:xfrm>
            <a:off x="6985000" y="5207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海量数据的处理性能瓶颈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在对超过2万条数据进行循环API调用和可视化渲染时，代码运行效率成为瓶颈，需要考虑异步请求或批量处理等优化方法。</a:t>
            </a:r>
            <a:endParaRPr lang="en-US" sz="1300" b="0" i="0" u="none" strike="noStrike">
              <a:solidFill>
                <a:srgbClr val="E5E7E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92F">
                <a:alpha val="100000"/>
              </a:srgbClr>
            </a:gs>
            <a:gs pos="100000">
              <a:srgbClr val="16355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524000" y="-1524000"/>
            <a:ext cx="4064000" cy="4064000"/>
          </a:xfrm>
          <a:prstGeom prst="ellipse">
            <a:avLst/>
          </a:prstGeom>
          <a:solidFill>
            <a:srgbClr val="4A90E2">
              <a:alpha val="12000"/>
            </a:srgbClr>
          </a:solidFill>
          <a:ln cap="flat" cmpd="sng">
            <a:solidFill>
              <a:srgbClr val="2E75C9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636000" y="3556000"/>
            <a:ext cx="5715000" cy="5715000"/>
          </a:xfrm>
          <a:prstGeom prst="ellipse">
            <a:avLst/>
          </a:prstGeom>
          <a:solidFill>
            <a:srgbClr val="4A90E2">
              <a:alpha val="9000"/>
            </a:srgbClr>
          </a:solidFill>
          <a:ln cap="flat" cmpd="sng">
            <a:solidFill>
              <a:srgbClr val="2E75C9">
                <a:alpha val="9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540000" y="1905000"/>
            <a:ext cx="101600" cy="101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cap="flat" cmpd="sng">
            <a:solidFill>
              <a:srgbClr val="E6CFC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652000" y="3810000"/>
            <a:ext cx="101600" cy="101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cap="flat" cmpd="sng">
            <a:solidFill>
              <a:srgbClr val="E6CFC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905000" y="4826000"/>
            <a:ext cx="101600" cy="1016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cap="flat" cmpd="sng">
            <a:solidFill>
              <a:srgbClr val="E6CFC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0" y="317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spc="600">
                <a:solidFill>
                  <a:srgbClr val="4A90E2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YOUR ATTENTION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5905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2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3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4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5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6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7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8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9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10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11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12.xml><?xml version="1.0" encoding="utf-8"?>
<p:tagLst xmlns:p="http://schemas.openxmlformats.org/presentationml/2006/main">
  <p:tag name="KSO_WM_DIAGRAM_VIRTUALLY_FRAME" val="{&quot;height&quot;:100,&quot;left&quot;:55,&quot;top&quot;:390,&quot;width&quot;:850}"/>
</p:tagLst>
</file>

<file path=ppt/tags/tag13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4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5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6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7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8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19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0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1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2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3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4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5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6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7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8.xml><?xml version="1.0" encoding="utf-8"?>
<p:tagLst xmlns:p="http://schemas.openxmlformats.org/presentationml/2006/main">
  <p:tag name="KSO_WM_DIAGRAM_VIRTUALLY_FRAME" val="{&quot;height&quot;:310,&quot;left&quot;:60,&quot;top&quot;:160,&quot;width&quot;:840}"/>
</p:tagLst>
</file>

<file path=ppt/tags/tag29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0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1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2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3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4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5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6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7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8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39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0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1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2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3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4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5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6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7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8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49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0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1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2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3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4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5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6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7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8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59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60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61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62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63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64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65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66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67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68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69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70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71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72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73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74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75.xml><?xml version="1.0" encoding="utf-8"?>
<p:tagLst xmlns:p="http://schemas.openxmlformats.org/presentationml/2006/main">
  <p:tag name="KSO_WM_DIAGRAM_VIRTUALLY_FRAME" val="{&quot;height&quot;:498.3,&quot;left&quot;:48,&quot;top&quot;:-76.2,&quot;width&quot;:950.45}"/>
</p:tagLst>
</file>

<file path=ppt/tags/tag76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77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78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79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80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81.xml><?xml version="1.0" encoding="utf-8"?>
<p:tagLst xmlns:p="http://schemas.openxmlformats.org/presentationml/2006/main">
  <p:tag name="KSO_WM_DIAGRAM_VIRTUALLY_FRAME" val="{&quot;height&quot;:293.00001104854664,&quot;left&quot;:60,&quot;top&quot;:174.9999889514534,&quot;width&quot;:875}"/>
</p:tagLst>
</file>

<file path=ppt/tags/tag82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83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84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85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86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87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88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89.xml><?xml version="1.0" encoding="utf-8"?>
<p:tagLst xmlns:p="http://schemas.openxmlformats.org/presentationml/2006/main">
  <p:tag name="KSO_WM_DIAGRAM_VIRTUALLY_FRAME" val="{&quot;height&quot;:275,&quot;left&quot;:470,&quot;top&quot;:210,&quot;width&quot;:440}"/>
</p:tagLst>
</file>

<file path=ppt/tags/tag90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91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92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93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94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95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96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97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98.xml><?xml version="1.0" encoding="utf-8"?>
<p:tagLst xmlns:p="http://schemas.openxmlformats.org/presentationml/2006/main">
  <p:tag name="KSO_WM_DIAGRAM_VIRTUALLY_FRAME" val="{&quot;height&quot;:305,&quot;left&quot;:40,&quot;top&quot;:190,&quot;width&quot;:420}"/>
</p:tagLst>
</file>

<file path=ppt/tags/tag99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0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1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2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3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4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5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6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7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8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09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10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11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12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13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14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15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16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17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ags/tag118.xml><?xml version="1.0" encoding="utf-8"?>
<p:tagLst xmlns:p="http://schemas.openxmlformats.org/presentationml/2006/main">
  <p:tag name="KSO_WM_DIAGRAM_VIRTUALLY_FRAME" val="{&quot;height&quot;:290,&quot;left&quot;:60,&quot;top&quot;:20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4280</Words>
  <Application>WPS 演示</Application>
  <PresentationFormat/>
  <Paragraphs>270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夏夜的夜</cp:lastModifiedBy>
  <cp:revision>13</cp:revision>
  <dcterms:created xsi:type="dcterms:W3CDTF">2026-07-13T03:58:00Z</dcterms:created>
  <dcterms:modified xsi:type="dcterms:W3CDTF">2026-07-16T02:31:38Z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{"Label":"1","ContentProducer":"001191110102MACQD9K64010000","ProduceID":"7661829095923797191","ReservedCode1":"","ContentPropagator":"","PropagateID":"","ReservedCode2":""}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76237E733A8D449AA8F40F6177A3DF3F_12</vt:lpwstr>
  </property>
</Properties>
</file>